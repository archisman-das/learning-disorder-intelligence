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D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731520"/>
            <a:ext cx="1828800" cy="1828800"/>
          </a:xfrm>
          <a:prstGeom prst="ellipse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4389120"/>
            <a:ext cx="2560320" cy="2560320"/>
          </a:xfrm>
          <a:prstGeom prst="ellipse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Dyslexia Detection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8778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8EEF4"/>
                </a:solidFill>
                <a:latin typeface="Aptos"/>
              </a:rPr>
              <a:t>28-slide demonstration deck for screening, therapy, biomarkers, reports, and research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5943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495463"/>
                </a:solidFill>
              </a:rPr>
              <a:t>Built from the project's architecture, model catalog, research draft, and dashboard documentation.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DCE4EB"/>
                </a:solidFill>
              </a:rPr>
              <a:t>Demo presentation for local 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Problem, scope, and system overview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Data inputs, preprocessing, and model families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Screening, therapy, biomarkers, and explanation modules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Dashboards, records, evaluation, and research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Dyslexia signals often appear across handwriting, speech, reading behavior, and eye movement rather than one isolated feature.</a:t>
            </a:r>
          </a:p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Single-modality screening can miss important cues and can be difficult to explain to teachers or parents.</a:t>
            </a:r>
          </a:p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The project is designed to support local-first, interpretable, multilingual educational assistance.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Why Multimodal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Handwriting captures shape and spacing cues.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Speech captures fluency, pauses, and pronunciation quality.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Text captures reading and spelling patterns.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Behavior and gaze capture attention, hesitation, and visual search strategy.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Project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Target users: students, teachers, parents, clinicians, and researchers.</a:t>
            </a:r>
          </a:p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Supported tasks: screening, speech therapy, visual focus testing, biomarker analysis, and report generation.</a:t>
            </a:r>
          </a:p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Supported languages and views: English, Bengali, and extendable multilingual workflows.</a:t>
            </a:r>
          </a:p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Deployment focus: local browser use, local persistence, and research-ready export.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Input ingestion from manifest CSV, uploaded files, and live dashboard activities.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Preprocessing before branch-specific feature extraction.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Modality encoders for handwriting, audio, text, and behavior signals.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Fusion and prediction followed by explanation, intervention, and reporting.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Data Sources and Manifest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Central CSV manifest keeps samples portable and reproducible.</a:t>
            </a:r>
          </a:p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Each sample can reference handwriting images, audio files, text samples, and behavior values.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Optional eye-tracking and biomarker tables extend the same workflow.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The manifest acts as the single source of truth for records and experiments.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Preprocessing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Handwriting: grayscale loading, contrast normalization, and resizing.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Audio: spectral feature extraction and stable frame preparation.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Text: tokenization, padding, and language-specific vocabulary handling.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Numeric features: cleaning, scaling, and shape 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Model Catalog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34440"/>
          <a:ext cx="10789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206240"/>
                <a:gridCol w="3474720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E2D54"/>
                          </a:solidFill>
                          <a:latin typeface="Aptos"/>
                        </a:defRPr>
                      </a:pPr>
                      <a:r>
                        <a:t>Component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E2D54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E2D54"/>
                          </a:solidFill>
                          <a:latin typeface="Aptos"/>
                        </a:defRPr>
                      </a:pPr>
                      <a:r>
                        <a:t>Main Advantage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HandwritingEncoder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Image feature learning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Fast local inference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AudioEncoder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Audio feature learning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Compact temporal cues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TransformerTextEncoder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Text context modeling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Stronger sequence learning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AttentionFusionClassifier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Modal weighting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Interpretability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InterventionPolicy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Action selection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Editable support logic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715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57D"/>
                </a:solidFill>
              </a:rPr>
              <a:t>Prepared from the current repository documentation and project flow.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Default Multimodal Screening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The default model combines handwriting, audio, text, and behavior embeddings.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It is designed to be practical, balanced, and easy to deploy locally.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The model outputs risk or severity estimates for downstream interpretation.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Attention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Attention fusion learns which modality contributes most for a given learner.</a:t>
            </a:r>
          </a:p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This supports explanations such as handwriting-heavy, speech-heavy, or behavior-heavy cases.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The output is useful for both model debugging and educator-facing summaries.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Transformer Multimodal Variant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Transformer-based branches improve contextual modeling for text and longer sequences.</a:t>
            </a:r>
          </a:p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This variant is useful when sequence dependencies matter more than simple recurrence.</a:t>
            </a:r>
          </a:p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It is heavier than the baseline but can improve representation quality in research settings.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Vision Transformer Branch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Vision transformer variants split handwriting images into patches.</a:t>
            </a:r>
          </a:p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Patch attention helps capture layout, spacing, and structural consistency patterns.</a:t>
            </a:r>
          </a:p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This branch is suitable for experiments that need stronger image reasoning than CNN baselines.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Speech and Therapy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Speech therapy mode listens to a reading sample, transcribes it, and scores reading behavior.</a:t>
            </a:r>
          </a:p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The workflow can surface current prompt, recognized response, spelling score, and overall status.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It is intended for guided practice, not only for assessment.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Text and Spelling Branch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Character-level text modeling supports short prompts, spelling practice, and reading-response analysis.</a:t>
            </a:r>
          </a:p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The branch can be used alongside audio to compare spoken and written performance.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It also helps keep the system multilingual and lightweight.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Behavior and Eye-Tracking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Behavior metrics include hesitation, repetition, omission, reading speed, and timing values.</a:t>
            </a:r>
          </a:p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Eye-tracking metrics help measure fixation, gaze control, and visual attention consistency.</a:t>
            </a:r>
          </a:p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These features strengthen the low-resource signal set when media inputs are limited.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Biomarker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The biomarkers page accepts structured CSV tables for analysis.</a:t>
            </a:r>
          </a:p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The system can detect likely label columns and highlight strong numeric signals.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This is useful for simple feature ranking and plain-language summaries.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Screening Output and Severity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The screening result summarizes language, predicted severity, confidence, and evidence by modality.</a:t>
            </a:r>
          </a:p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The output is meant to read like a short educational summary, not just a raw class label.</a:t>
            </a:r>
          </a:p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Different views can be tuned for classroom, home, and learner-friendly messaging.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Explainability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Heatmaps and attention scores help users see why the system reached a result.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Model-level explanations can be combined with human-readable summaries.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Explainability is central to teacher and parent trust in the workflow.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Speech Therapy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Shows prompt, response, auto score, passing threshold, and overall status.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Supports round-based guided reading with automatic progression.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Useful for repeated practice and progress tracking across sessions.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Visual Focus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The visual focus test supports letters, digits, and mixed-symbol modes.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Each round asks the learner to tap a target symbol from an answer grid.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The module is designed to measure attention, speed, accuracy, and consistency.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Test Lab and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The test and report area collects learner details before generating the final report.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It keeps the output ready for PDF generation and session documentation.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This page is the bridge between live testing and formal reporting.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Records and Local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Saved sessions build a local history of tests and reports.</a:t>
            </a:r>
          </a:p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The dashboard can show total records, filtered results, latest entry, and last saved time.</a:t>
            </a:r>
          </a:p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This helps the system behave like a continuing local toolkit instead of a one-off demo.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Evaluation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3444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840480"/>
                <a:gridCol w="5303520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E2D54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E2D54"/>
                          </a:solidFill>
                          <a:latin typeface="Aptos"/>
                        </a:defRPr>
                      </a:pPr>
                      <a:r>
                        <a:t>What It Measures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E2D54"/>
                          </a:solidFill>
                          <a:latin typeface="Aptos"/>
                        </a:defRPr>
                      </a:pPr>
                      <a:r>
                        <a:t>Why It Matters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Accuracy / F1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Prediction quality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Basic model reliability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Confidence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How sure the system is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Useful for risk triage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Stability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Consistency across runs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Important for trust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Sensitivity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Detection of difficult cases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Important for early support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Latency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Runtime on local devices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95463"/>
                          </a:solidFill>
                          <a:latin typeface="Aptos"/>
                        </a:defRPr>
                      </a:pPr>
                      <a:r>
                        <a:t>Important for practical use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715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57D"/>
                </a:solidFill>
              </a:rPr>
              <a:t>Prepared from the current repository documentation and project flow.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Deployment 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0E2D54"/>
                </a:solidFill>
              </a:rPr>
              <a:t>Streamlit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495463"/>
                </a:solidFill>
                <a:latin typeface="Aptos"/>
              </a:defRPr>
            </a:pPr>
            <a:r>
              <a:t>Fast research exploration and experimentation</a:t>
            </a:r>
          </a:p>
          <a:p>
            <a:pPr>
              <a:spcAft>
                <a:spcPts val="500"/>
              </a:spcAft>
              <a:defRPr sz="1500">
                <a:solidFill>
                  <a:srgbClr val="495463"/>
                </a:solidFill>
                <a:latin typeface="Aptos"/>
              </a:defRPr>
            </a:pPr>
            <a:r>
              <a:t>Useful for single-user local workflows</a:t>
            </a:r>
          </a:p>
          <a:p>
            <a:pPr>
              <a:spcAft>
                <a:spcPts val="500"/>
              </a:spcAft>
              <a:defRPr sz="1500">
                <a:solidFill>
                  <a:srgbClr val="495463"/>
                </a:solidFill>
                <a:latin typeface="Aptos"/>
              </a:defRPr>
            </a:pPr>
            <a:r>
              <a:t>Good for quick checks and model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0E2D54"/>
                </a:solidFill>
              </a:rPr>
              <a:t>Web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6304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495463"/>
                </a:solidFill>
                <a:latin typeface="Aptos"/>
              </a:defRPr>
            </a:pPr>
            <a:r>
              <a:t>Browser-based local UI</a:t>
            </a:r>
          </a:p>
          <a:p>
            <a:pPr>
              <a:spcAft>
                <a:spcPts val="500"/>
              </a:spcAft>
              <a:defRPr sz="1500">
                <a:solidFill>
                  <a:srgbClr val="495463"/>
                </a:solidFill>
                <a:latin typeface="Aptos"/>
              </a:defRPr>
            </a:pPr>
            <a:r>
              <a:t>Supports live interaction and record keeping</a:t>
            </a:r>
          </a:p>
          <a:p>
            <a:pPr>
              <a:spcAft>
                <a:spcPts val="500"/>
              </a:spcAft>
              <a:defRPr sz="1500">
                <a:solidFill>
                  <a:srgbClr val="495463"/>
                </a:solidFill>
                <a:latin typeface="Aptos"/>
              </a:defRPr>
            </a:pPr>
            <a:r>
              <a:t>Best for demonstration and sharing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Research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Collect larger multilingual datasets.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Add stronger fusion methods and self-supervised pretraining.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Validate intervention suggestions in classroom-like settings.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Extend explanation quality for teachers, parents, and learners.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Limitations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The system is a support tool, not a diagnosis replacement.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Data quality, consent, and privacy remain essential.</a:t>
            </a:r>
          </a:p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Model outputs should be reviewed by trained professionals in real educational settings.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34440" cy="109728"/>
          </a:xfrm>
          <a:prstGeom prst="rect">
            <a:avLst/>
          </a:prstGeom>
          <a:solidFill>
            <a:srgbClr val="D7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E2D54"/>
                </a:solidFill>
                <a:latin typeface="Aptos Display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This project unifies screening, therapy, biomarkers, reporting, and records in one local-first platform.</a:t>
            </a:r>
          </a:p>
          <a:p>
            <a:pPr>
              <a:spcAft>
                <a:spcPts val="800"/>
              </a:spcAft>
              <a:defRPr sz="1600">
                <a:solidFill>
                  <a:srgbClr val="495463"/>
                </a:solidFill>
                <a:latin typeface="Aptos"/>
              </a:defRPr>
            </a:pPr>
            <a:r>
              <a:t>The next step is to expand evaluation, strengthen data collection, and validate educational usefulness.</a:t>
            </a:r>
          </a:p>
          <a:p>
            <a:pPr>
              <a:spcAft>
                <a:spcPts val="800"/>
              </a:spcAft>
              <a:defRPr sz="1800">
                <a:solidFill>
                  <a:srgbClr val="495463"/>
                </a:solidFill>
                <a:latin typeface="Aptos"/>
              </a:defRPr>
            </a:pPr>
            <a:r>
              <a:t>The deck is ready for demonstration, review, and future publication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C757D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